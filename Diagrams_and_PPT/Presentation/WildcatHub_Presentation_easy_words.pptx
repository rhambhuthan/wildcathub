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58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FINAL DEFENSE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WildcatHub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Equipment Borrowing &amp; Management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WinForms  ·  MS Access (OleDB)  ·  .NET  ·  Role-Based System  ·  Admin &amp; Student Portals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Flows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WildcatHub?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for borrowing and managing laboratory equipment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WildcatHub is a desktop application made with C# Windows Forms and Microsoft Access. It helps the laboratory manage students, equipment, borrow slips, approvals, returns, reports, payments, and history in one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GB" sz="10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portals: Admin and Student dashboards</a:t>
            </a:r>
          </a:p>
          <a:p>
            <a:pPr marL="342900" indent="-342900">
              <a:buSzPct val="100000"/>
              <a:buChar char="•"/>
            </a:pPr>
            <a:r>
              <a:rPr lang="en-GB" sz="10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system with group, subject, and equipment tracking</a:t>
            </a:r>
          </a:p>
          <a:p>
            <a:pPr marL="342900" indent="-342900">
              <a:buSzPct val="100000"/>
              <a:buChar char="•"/>
            </a:pPr>
            <a:r>
              <a:rPr lang="en-GB" sz="10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assignment and unit-level equipment tracking</a:t>
            </a:r>
          </a:p>
          <a:p>
            <a:pPr marL="342900" indent="-342900">
              <a:buSzPct val="100000"/>
              <a:buChar char="•"/>
            </a:pPr>
            <a:r>
              <a:rPr lang="en-GB" sz="10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Damage/lost report workflow with payment slip generation</a:t>
            </a:r>
          </a:p>
          <a:p>
            <a:pPr marL="342900" indent="-342900">
              <a:buSzPct val="100000"/>
              <a:buChar char="•"/>
            </a:pPr>
            <a:r>
              <a:rPr lang="en-GB" sz="10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Check-stock alerts and lab-specific inventory per Admin</a:t>
            </a:r>
          </a:p>
          <a:p>
            <a:pPr marL="342900" indent="-342900">
              <a:buSzPct val="100000"/>
              <a:buChar char="•"/>
            </a:pPr>
            <a:r>
              <a:rPr lang="en-GB" sz="10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manual builder for admin lab coordinators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508760"/>
            <a:ext cx="2926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0" y="1508760"/>
            <a:ext cx="54864" cy="109728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Student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2743200"/>
            <a:ext cx="2926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8803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Slips, Reports…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977640"/>
            <a:ext cx="2926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3977640"/>
            <a:ext cx="54864" cy="10972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4114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· Consumable · Limited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that WildcatHub solves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borrowing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9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equipment manually can be confusing because group slips, subjects, members, approval, and returns are not connected in one place.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54864" cy="1078992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18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equipment tracking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928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quantities were computed manually with no real-time awareness of pending, borrowed, or used-up items.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" cy="1078992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Damage / Lost Workflow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or lost equipment had no formal reporting, cost assignment, or payment tracking path.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697480"/>
            <a:ext cx="54864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Lab Coordination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admins, subjects, schedules, and students had no shared platform — causing missed updates.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4864" cy="1078992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995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 Guidance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27024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had no structured reference for which equipment to borrow per experiment — prone to errors.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3886200"/>
            <a:ext cx="54864" cy="1078992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995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Admin-Level Alerts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27024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9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Check-stock warnings, overdue returns, and pending slips had no dashboard visibility for lab admins.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WildcatHub does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slips for groups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89280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90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borrow equipment as a group. The slip stores the subject, section schedule, leader, members, equipment, and quantities.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Equipment Availability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189280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compute available quantities accounting for pending, borrowed, and consumed items.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Serial-Unit Level Tracking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0815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individual equipment units by serial number from borrow assignment through return.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69748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69748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and Lost Report Process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9240" y="30815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admin to file damage/lost reports, assign replacement costs, and track payment per student.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88620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 &amp; Student Portals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27024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purpose-built dashboards for lab admins and enrolled students.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388620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388620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Manual Builder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0" y="427024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create structured equipment lists per experiment for student borrowing guidance.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2860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(.NET)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651760" cy="2286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1508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874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UI Framework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651760" cy="2286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1508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Access (OleDB)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1874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265176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651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OleDbTransaction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Transaction Safety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560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3337560"/>
            <a:ext cx="2651760" cy="22860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1568" y="2651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State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3337560"/>
            <a:ext cx="265176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2651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MailKit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2651760" cy="2286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794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System.Windows.Forms.DataVisualization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4160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 Rendering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703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4480560"/>
            <a:ext cx="2651760" cy="2286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01568" y="3794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Neumorphism UI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01568" y="4160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 Design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703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480" y="4480560"/>
            <a:ext cx="265176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36208" y="3794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36208" y="4160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organized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50292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4996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85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screens used by admin and students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0574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frmAdminDashboard.cs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frmUserDashboard.cs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frmAddEquipment.cs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frmEquipmentDetails.cs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frmLogin.cs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651760" cy="50292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1568" y="14996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0156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&amp; Rules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01568" y="20574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SessionManager.cs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 computation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approval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report &amp; payment logic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unit assignment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4996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3620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 / MS Access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36208" y="20574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DbHelper.GetConnection()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OleDbCommand / OleDbDataAdapter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OleDbTransaction (commit/rollback)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(no SQL injection)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@@IDENTITY for new record IDs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08960" y="3154680"/>
            <a:ext cx="457200" cy="0"/>
          </a:xfrm>
          <a:prstGeom prst="line">
            <a:avLst/>
          </a:prstGeom>
          <a:noFill/>
          <a:ln w="3175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0" y="3154680"/>
            <a:ext cx="457200" cy="0"/>
          </a:xfrm>
          <a:prstGeom prst="line">
            <a:avLst/>
          </a:prstGeom>
          <a:noFill/>
          <a:ln w="3175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screen for the laboratory admin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145" y="1691640"/>
            <a:ext cx="387025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Dashboard lets the laboratory admin see students, equipment, pending borrow slips, borrowed items, reports, history, and low-stock alerts in one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classes today, total students, active borrowing, pending slips, low stock items, and reports.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95160" y="141732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student list with subject/section filter. Per-student borrow, return, and pending slip counts.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65176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0358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cards by category. Add, edit, archive equipment. Subject-filter and search.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951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65176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0358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borrowed items grid. Return processing. Damage/Lost report button. Reports drawer.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388620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Slips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slip cards. View slip details, approve (with serial assignment), or decline with reason.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951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95160" y="388620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declined slip history with borrower and equipment details.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STUDENT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&amp; Borrow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screen for students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57200" cy="155448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Equipment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equipment connected to their enrolled subject and schedule.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457200" cy="15544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equipment to cart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19019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choose equipment and quantity. The cart counts equipment lines and checks if enough stock is available.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457200" cy="15544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4630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or edit pending slip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9019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enters group number and adds members by School ID. Members must be classmates in the same subject schedule.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5720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264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or decline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5935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checks the slip. If equipment has serial numbers, the admin chooses the exact serial numbers. The admin can approve or decline with a reason.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3154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3154680"/>
            <a:ext cx="457200" cy="1554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0" y="31546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0" y="3264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Borrowing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35935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approval, the slip becomes active. Students receive a notification and can view the borrowed equipment.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3154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3154680"/>
            <a:ext cx="457200" cy="155448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1546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75120" y="3264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history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75120" y="35935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returns the equipment or creates a report. Returned slips and paid reports can be viewed in history.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Management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laboratory equipment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892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Equipment module stores all laboratory items. It shows the name, brand, category, quantity, type, serial setting, image, description, and availability.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Registry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4628" y="1737360"/>
            <a:ext cx="17876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view per lab. Each card shows name, category, available/total qty. Filter by category or subject. Search by name.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95160" y="141732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27748" y="1482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Equipment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8514" y="17015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 equipment as Reusable, One Time Use, or Limited Use. Also sets category, low-stock limit, subject links, and whether it has serial numbers.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651760"/>
            <a:ext cx="54864" cy="1115568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17770" y="271587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Unit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9774" y="2916936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with serial numbers is tracked per unit. Small items and one-time-use items do not need serial numbers unless the admin chooses to use them.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65176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14032" y="267472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4032" y="2872173"/>
            <a:ext cx="183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items return to stock. One Time Use items do not return to stock. Limited Use items only return the quantity that the admin marks as usable.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388620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56632" y="39547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Check-Stock Alerts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49774" y="415137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panel flags any equipment where available ≤ </a:t>
            </a:r>
            <a:r>
              <a:rPr lang="en-GB" sz="10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CheckStockThreshold</a:t>
            </a: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Count shown on Equipment stat card.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95160" y="3886200"/>
            <a:ext cx="54864" cy="1115568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Equipment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hides equipment from all views. Cancels any pending reservations. Cascade-safe.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BORROW SLIP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Process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slip statuses and actions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submits a slip. It becomes Pending and can still be edited until approval.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82880" cy="0"/>
          </a:xfrm>
          <a:prstGeom prst="line">
            <a:avLst/>
          </a:prstGeom>
          <a:noFill/>
          <a:ln w="254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7004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approves the slip. Serialized equipment needs assigned serial numbers. The slip becomes active borrowing.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651760"/>
            <a:ext cx="182880" cy="0"/>
          </a:xfrm>
          <a:prstGeom prst="line">
            <a:avLst/>
          </a:prstGeom>
          <a:noFill/>
          <a:ln w="254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7316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returns equipment by item and quantity. Stock changes depend on equipment type.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2651760"/>
            <a:ext cx="182880" cy="0"/>
          </a:xfrm>
          <a:prstGeom prst="line">
            <a:avLst/>
          </a:prstGeom>
          <a:noFill/>
          <a:ln w="254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628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can decline the slip and write a reason. The leader and members receive a notification.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slip states support: group number, leader name, member list (BorrowSlipMembers), subject and schedule linkage, and per-item return status tracking.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DAMAGE REPORTS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28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and Lost Report Process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reports, costs, and payment slips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64633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made when borrowed equipment is broken or lost. The admin chooses the reported quantity and fills in the details.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54864" cy="126187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report quantity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801368"/>
            <a:ext cx="186537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chooses the equipment, report quantity, damage type, serial numbers if needed, details, and evidence image for broken items.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95160" y="1417320"/>
            <a:ext cx="54864" cy="12618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report details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18013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enters the replacement cost. The system divides the cost among the leader and members.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7889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788920"/>
            <a:ext cx="54864" cy="126187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2898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cost and payment slip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1729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open the payment slip from their notification and download the receipt details.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27889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788920"/>
            <a:ext cx="54864" cy="12618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2898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 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1729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start as Pending Cost. Users are restricted only after the admin sends the cost. When paid, the restriction is removed.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Access tables used by the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996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4996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FullName, SchoolID, SchoolEmail, Password, IsActive, UserType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14996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4996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EquipmentID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EquipmentName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Category,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QuantityTotal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QuantityMaintenance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CheckStockThreshold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EquipmentType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HasSerial</a:t>
            </a: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Status, LabID, </a:t>
            </a:r>
            <a:r>
              <a:rPr lang="en-US" sz="900" dirty="0" err="1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IsArchived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0665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0665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UnitID, EquipmentID, SerialNumber, UnitStatus, DateAdded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029968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3752" y="20665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BorrowSlips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89320" y="2066544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SlipID, UserID, SubjectID, ScheduleID, GroupNumber, LeaderName, SlipType, SlipStatus, DateCreated, DeclineReason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63347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BorrowSlipItems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45920" y="26334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SlipItemID, SlipID, EquipmentID, QuantityRequested, QuantityReturned, ItemReturnStatus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596896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6334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BorrowSlipUnits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26334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SlipUnitID, SlipItemID, UnitID, DateAssigned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63824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" y="32004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DamageReports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45920" y="32004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ReportID, SlipID, EquipmentID, DamageType, DamageQuantity, ReportStatus, CurrentReplacementCost, IndividualShare, EvidenceImagePath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3163824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32004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DamageReportMembers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MemberID, ReportID, UserID, AmountShare, IsRestricted, HasPaid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30752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LabSubjects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45920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SubjectID, LabID, SubjectCode, SubjectName, IsActive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30752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73752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SubjectSchedules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89320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ScheduleID, SubjectID, Section, DayOfWeek, StartTime, EndTime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341699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StudentSubjectEnrollments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645920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EnrollmentID, UserID, SubjectID, ScheduleID, IsActive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297680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73752" y="43342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ExperimentManuals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89320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ExperimentID, SubjectID, ExperimentName, IsActive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can be added later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Experiment Manual 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848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SaveManual database integration so experiment manuals persist and drive student borrow slips.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848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slip approval, decline, and payment notices via EmailService to student school emails.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2761488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761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Barcode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borrow slip QR codes and scan equipment serial numbers at reception for faster checkout.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670048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2670048"/>
            <a:ext cx="54864" cy="10972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2761488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761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Check-term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Portal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291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student-facing features to ASP.NET MVC or MAUI for cross-device access.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77056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877056"/>
            <a:ext cx="54864" cy="10972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3968496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39684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Check-term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4224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Migration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4988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MS Access to MySQL or Azure SQL for multi-lab, multi-site deployment.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3877056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3877056"/>
            <a:ext cx="54864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37760" y="3968496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37760" y="39684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4224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44988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low-stock periods and flag borrowing anomalies using equipment usage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Testing Checklist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i="1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parts to test before submission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402336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490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and 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6824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using an enrolled inactive student, verify the code, then login.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54864" cy="402336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19933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19933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1947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approval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1396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slip, edit it while pending, approve it as admin, and check the user notification.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54864" cy="402336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24505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4505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2404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5968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reusable, one-time-use, and limited-use equipment returns.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54864" cy="402336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29077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29077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2862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and lost reports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30540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report quantity, fill report details, send cost, open payment slip, and mark as paid.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54864" cy="402336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33649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3364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33192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17320" y="35112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returned slips and paid reports appear in admin and user history.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54864" cy="402336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4360" y="38221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38221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17320" y="3776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17320" y="39684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newest notifications appear first and show the received time.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4206240"/>
            <a:ext cx="54864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4360" y="42793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4360" y="42793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17320" y="4233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17320" y="44256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login, create account, forgot password, reports, history, and equipment detail screens for overlap.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46634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7200" y="4663440"/>
            <a:ext cx="54864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94360" y="47365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4360" y="47365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417320" y="4690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rules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417320" y="48828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small and one-time-use items are not serialized, while large serialized equipment requires serial numbers.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WildcatHub: Lab Equipment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&amp; Management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i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laboratory borrowing and equipment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 for Admin and Student with </a:t>
            </a:r>
            <a:r>
              <a:rPr lang="en-GB" sz="1600" dirty="0" err="1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neumorphic</a:t>
            </a: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 design</a:t>
            </a: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pipeline with group, subject, schedule, and serial unit tracking</a:t>
            </a: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algorithm: Total − Maintenance − Pending − Borrowed − </a:t>
            </a:r>
            <a:r>
              <a:rPr lang="en-GB" sz="1600" dirty="0" err="1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UsedUp</a:t>
            </a:r>
            <a:endParaRPr lang="en-GB" sz="1600" dirty="0">
              <a:solidFill>
                <a:srgbClr val="E8D0D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Damage/Lost report workflow with cost assignment and payment slip generation</a:t>
            </a: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Check-stock alert dashboard, equipment archiving, and lab-specific isolation</a:t>
            </a: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manual builder linking subjects, equipment, and borrow guidance</a:t>
            </a: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parameterized </a:t>
            </a:r>
            <a:r>
              <a:rPr lang="en-GB" sz="1600" dirty="0" err="1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</a:t>
            </a: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queries with transaction safety (commit/rollback)</a:t>
            </a:r>
          </a:p>
          <a:p>
            <a:pPr marL="342900" indent="-342900">
              <a:buSzPct val="100000"/>
              <a:buChar char="•"/>
            </a:pPr>
            <a:r>
              <a:rPr lang="en-GB" sz="160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Access schema with 12+ relational tables supporting all core workflows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0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every borrow is tracked with precision — and every piece of equipment accounted for."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1954</Words>
  <Application>Microsoft Office PowerPoint</Application>
  <PresentationFormat>On-screen Show (16:9)</PresentationFormat>
  <Paragraphs>291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WildcatHub - Lab Equipment Management System</dc:title>
  <dc:subject>PptxGenJS Presentation</dc:subject>
  <dc:creator>PptxGenJS</dc:creator>
  <cp:lastModifiedBy>ejkatealcover@gmail.com</cp:lastModifiedBy>
  <cp:revision>4</cp:revision>
  <dcterms:created xsi:type="dcterms:W3CDTF">2026-05-11T21:40:17Z</dcterms:created>
  <dcterms:modified xsi:type="dcterms:W3CDTF">2026-05-18T00:44:07Z</dcterms:modified>
</cp:coreProperties>
</file>