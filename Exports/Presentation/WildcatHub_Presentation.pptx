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FINAL DEFENSE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WildcatHub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Equipment Borrowing &amp; Management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0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WinForms  ·  MS Access (OleDB)  ·  .NET  ·  Role-Based System  ·  Admin &amp; Student Portals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1920240" cy="1188720"/>
          </a:xfrm>
          <a:prstGeom prst="rect">
            <a:avLst/>
          </a:prstGeom>
          <a:solidFill>
            <a:srgbClr val="5A0F1E"/>
          </a:solidFill>
          <a:ln w="12700">
            <a:solidFill>
              <a:srgbClr val="7A1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017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Flows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WildcatHub?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laboratory equipment management platform — not just a borrowing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WildcatHub is a C# WinForms desktop application backed by Microsoft Access (OleDB) that serves as a complete laboratory equipment management system for engineering and science laboratories. Every major lab function — student enrollment, equipment borrowing, admin approval, damage reporting, and experiment manuals — runs inside one connected system.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portals: Admin and Student dashboards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system with group, subject, and equipment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number assignment and unit-level equipment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Damage/lost report workflow with payment slip generation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 and lab-specific inventory per Admin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manual builder for admin lab coordinators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1508760"/>
            <a:ext cx="2926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0" y="1508760"/>
            <a:ext cx="54864" cy="109728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Student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2743200"/>
            <a:ext cx="2926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2743200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8803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246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Slips, Reports…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60720" y="3977640"/>
            <a:ext cx="2926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3977640"/>
            <a:ext cx="54864" cy="10972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4114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· Consumable · Limited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gaps WildcatHub was built to solve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18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Borrow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borrowing was handled per-item with no group slip, subject linkage, or unified approval pipeline.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08760"/>
            <a:ext cx="54864" cy="1078992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184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Equipment Tracking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8928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quantities were computed manually with no real-time awareness of pending, borrowed, or used-up items.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97480"/>
            <a:ext cx="54864" cy="1078992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Damage / Lost Workflow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815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or lost equipment had no formal reporting, cost assignment, or payment tracking path.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697480"/>
            <a:ext cx="54864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8072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Lab Coordination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08152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admins, subjects, schedules, and students had no shared platform — causing missed updates.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54864" cy="1078992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95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 Guidance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27024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had no structured reference for which equipment to borrow per experiment — prone to errors.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886200"/>
            <a:ext cx="54864" cy="1078992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995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Admin-Level Alerts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27024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warnings, overdue returns, and pending slips had no dashboard visibility for lab admins.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WildcatHub is designed to accomplish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Borrow Slip 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89280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group borrowing with subject, schedule, and equipment linkage under one slip ID.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0876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0876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Equipment Availability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49240" y="189280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compute available quantities accounting for pending, borrowed, and consumed items.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9748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Serial-Unit Level Tracking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" y="30815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individual equipment units by serial number from borrow assignment through return.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69748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69748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69748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788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&amp; Lost Report Workflow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49240" y="308152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admin to file damage/lost reports, assign replacement costs, and track payment per student.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8620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8620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Admin &amp; Student Portals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27024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purpose-built dashboards for lab admins and enrolled students.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886200"/>
            <a:ext cx="41148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886200"/>
            <a:ext cx="457200" cy="107899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86200"/>
            <a:ext cx="457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Manual Builder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49240" y="4270248"/>
            <a:ext cx="3474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admins create structured equipment lists per experiment for student borrowing guidance.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94560"/>
            <a:ext cx="2651760" cy="22860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08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(.NET)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194560"/>
            <a:ext cx="2651760" cy="2286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508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874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UI Framework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194560"/>
            <a:ext cx="2651760" cy="2286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508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Access (OleDB)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1874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37560"/>
            <a:ext cx="265176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651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OleDbTransaction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Transaction Safety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560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37560"/>
            <a:ext cx="2651760" cy="22860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651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State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560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337560"/>
            <a:ext cx="2651760" cy="228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2651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EmailService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3017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480560"/>
            <a:ext cx="2651760" cy="2286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794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System.Drawing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4160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UI Rendering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3703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4480560"/>
            <a:ext cx="2651760" cy="2286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1568" y="3794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Neumorphism UI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01568" y="4160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 Design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0" y="370332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4480560"/>
            <a:ext cx="2651760" cy="228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79476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36208" y="416052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 (3-Tier)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separation: UI → Business Logic →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2651760" cy="50292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996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UI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20574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frmAdminDashboard.cs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frmUserDashboard.cs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frmAddEquipment.cs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frmEquipmentDetails.cs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frmLogin.cs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2651760" cy="50292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4996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0156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&amp; Rules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01568" y="20574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SessionManager.cs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availability computation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approval workflow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report &amp; payment logic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unit assignment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4996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6208" y="1755648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 / MS Access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36208" y="205740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DbHelper.GetConnection()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OleDbCommand / OleDbDataAdapter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OleDbTransaction (commit/rollback)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(no SQL injection)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@@IDENTITY for new record IDs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3154680"/>
            <a:ext cx="457200" cy="0"/>
          </a:xfrm>
          <a:prstGeom prst="line">
            <a:avLst/>
          </a:prstGeom>
          <a:noFill/>
          <a:ln w="31750">
            <a:solidFill>
              <a:srgbClr val="C49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154680"/>
            <a:ext cx="457200" cy="0"/>
          </a:xfrm>
          <a:prstGeom prst="line">
            <a:avLst/>
          </a:prstGeom>
          <a:noFill/>
          <a:ln w="31750">
            <a:solidFill>
              <a:srgbClr val="C49A1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 PORTAL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administrator's command center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Dashboard is the central control layer of WildcatHub. It consolidates lab data — students, equipment, borrowed items, pending slips, history, and low-stock alerts — into a single unified portal.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41732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cards: Classes Today, Total Students, Borrowed Items, Low Stock Items. Low-stock alert panel.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1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141732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student list with subject/section filter. Per-student borrow, return, and pending slip counts.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265176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0358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cards by category. Add, edit, archive equipment. Subject-filter and search.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951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265176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30358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borrowed items grid. Return processing. Damage/Lost report button. Reports drawer.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88620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Slips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42702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Kanban-style slip cards. View slip details, approve (with serial assignment), or decline with reason.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951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95160" y="388620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2702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declined slip history with borrower and equipment details.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STUDENT PORTAL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 &amp; Borrow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borrowing interface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457200" cy="155448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Equipment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only equipment linked to their enrolled subject, filtered to their current lab schedule window.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63040"/>
            <a:ext cx="457200" cy="15544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630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190195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equipment with quantity is added to the Borrow Cart. Cart validates against available stock in real time.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463040"/>
            <a:ext cx="457200" cy="15544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46304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Borrow Slip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190195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group number, leader, and adds members by School ID. Slip is submitted as Pending.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54680"/>
            <a:ext cx="45720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546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264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35935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the slip, assigns serial units (for serialized equipment), and approves or declines with a reason.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3154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3154680"/>
            <a:ext cx="457200" cy="1554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1546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80" y="3264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Borrowing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0" y="35935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items appear in the Borrowed panel. Serial numbers assigned are visible to the student.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3154680"/>
            <a:ext cx="26517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154680"/>
            <a:ext cx="457200" cy="155448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15468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75120" y="3264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History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0" y="3593592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processes return. Returned items move to History. Damage reports link to payment slip if needed.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Management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lab's physical inventory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Equipment module tracks every item in the lab with full lifecycle management — from adding and categorizing equipment to tracking real-time availability, serial units, and low-stock thresholds.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41732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Registry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view per lab. Each card shows name, category, available/total qty. Filter by category or subject. Search by name.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160" y="141732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141732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Equipment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 equipment with type (Reusable / Consumable / Limited Use), serial flag, category, brand, low-stock threshold, and subject links.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2651760"/>
            <a:ext cx="54864" cy="1115568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Unit Tracking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0358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equipment tracks each unit individually (EquipmentUnits table). Status: Available, Borrowed, Broken, Lost, Consumed.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95160" y="265176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2651760"/>
            <a:ext cx="54864" cy="1115568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761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Algorithm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30358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= Total − Maintenance − Pending − Borrowed − UsedUp. Serialized items count available units directly from EquipmentUnits.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886200"/>
            <a:ext cx="54864" cy="1115568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42702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panel flags any equipment where available ≤ LowStockThreshold. Count shown on Equipment stat card.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95160" y="3886200"/>
            <a:ext cx="1920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95160" y="3886200"/>
            <a:ext cx="54864" cy="1115568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995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Equipment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2702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hides equipment from all views. Cancels any pending reservations. Cascade-safe.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BORROW SLIP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Workflow &amp; Approval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Four-state slip lifecycle with serial assignment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submitted by student group. Equipment quantities are pre-allocated. Awaiting admin review.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82880" cy="0"/>
          </a:xfrm>
          <a:prstGeom prst="line">
            <a:avLst/>
          </a:prstGeom>
          <a:noFill/>
          <a:ln w="25400">
            <a:solidFill>
              <a:srgbClr val="C49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508760"/>
            <a:ext cx="1920240" cy="457200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7004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approved the slip. For serialized items, admin assigns specific unit serial numbers. Items status → Borrowed.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2651760"/>
            <a:ext cx="182880" cy="0"/>
          </a:xfrm>
          <a:prstGeom prst="line">
            <a:avLst/>
          </a:prstGeom>
          <a:noFill/>
          <a:ln w="25400">
            <a:solidFill>
              <a:srgbClr val="C49A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processes return per item. Consumable/Limited Use items have special return logic. Units revert to Available.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0" y="2651760"/>
            <a:ext cx="182880" cy="0"/>
          </a:xfrm>
          <a:prstGeom prst="line">
            <a:avLst/>
          </a:prstGeom>
          <a:noFill/>
          <a:ln w="25400">
            <a:solidFill>
              <a:srgbClr val="C49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50876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2057400"/>
            <a:ext cx="1700784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declines with a written reason. Student can see the reason in their portal. Slip closes.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slip states support: group number, leader name, member list (BorrowSlipMembers), subject and schedule linkage, and per-item return status tracking.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DAMAGE REPORTS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&amp; Lost Report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Admin-initiated reporting with cost assignment and payment slip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Portal is the central control layer of WildcatHub. It consolidates data from across the entire system into actionable reports, financial summaries, and damage/lost resolution workflows.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14173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417320"/>
            <a:ext cx="54864" cy="126187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Damage Report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801368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selects the affected slip item, chooses Broken or Lost, selects serial unit(s), and uploads photo evidence if applicable.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995160" y="14173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1417320"/>
            <a:ext cx="54864" cy="12618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5270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Assignment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801368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sets the total group replacement cost. The system divides it equally by member count as IndividualShare.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27889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2788920"/>
            <a:ext cx="54864" cy="1261872"/>
          </a:xfrm>
          <a:prstGeom prst="rect">
            <a:avLst/>
          </a:prstGeom>
          <a:solidFill>
            <a:srgbClr val="6D0E1E"/>
          </a:solidFill>
          <a:ln w="12700">
            <a:solidFill>
              <a:srgbClr val="6D0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898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Slip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3172968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prints a formatted payment slip. Student can also view and print their own payment slip from their portal.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95160" y="2788920"/>
            <a:ext cx="19202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2788920"/>
            <a:ext cx="54864" cy="126187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898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Lifecycle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3172968"/>
            <a:ext cx="17373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→ Pending Cost → For Payment → Paid. Members are restricted from new borrowing until paid.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relational MS Access schema with OleDB transactions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996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45920" y="14996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FullName, SchoolID, SchoolEmail, Password, IsActive, UserType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149961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89320" y="149961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EquipmentID, EquipmentName, Category, QuantityTotal, QuantityMaintenance, LowStockThreshold, EquipmentType, HasSerial, Status, LabID, IsArchived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6654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EquipmentUnits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20665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UnitID, EquipmentID, SerialNumber, UnitStatus, DateAdded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800600" y="2029968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206654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BorrowSlips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89320" y="20665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SlipID, UserID, SubjectID, ScheduleID, GroupNumber, LeaderName, SlipType, SlipStatus, DateCreated, DeclineReason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596896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334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BorrowSlipItems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45920" y="26334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SlipItemID, SlipID, EquipmentID, QuantityRequested, QuantityReturned, ItemReturnStatus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800600" y="2596896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6334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BorrowSlipUnits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89320" y="26334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SlipUnitID, SlipItemID, UnitID, DateAssigned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163824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2004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DamageReports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4592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ReportID, SlipID, EquipmentID, DamageType, DamageQuantity, ReportStatus, CurrentReplacementCost, IndividualShare, EvidenceImagePath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00600" y="3163824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20040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DamageReportMembers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MemberID, ReportID, UserID, AmountShare, IsRestricted, HasPaid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3730752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7673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LabSubjects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45920" y="3767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SubjectID, LabID, SubjectCode, SubjectName, IsActive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00600" y="3730752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7673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SubjectSchedules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89320" y="37673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ScheduleID, SubjectID, Section, DayOfWeek, StartTime, EndTime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4114800" cy="502920"/>
          </a:xfrm>
          <a:prstGeom prst="rect">
            <a:avLst/>
          </a:prstGeom>
          <a:solidFill>
            <a:srgbClr val="F9F0F2"/>
          </a:solidFill>
          <a:ln w="6350">
            <a:solidFill>
              <a:srgbClr val="E8D0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3342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StudentSubjectEnrollments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45920" y="43342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EnrollmentID, UserID, SubjectID, ScheduleID, IsActive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00600" y="4297680"/>
            <a:ext cx="4114800" cy="502920"/>
          </a:xfrm>
          <a:prstGeom prst="rect">
            <a:avLst/>
          </a:prstGeom>
          <a:solidFill>
            <a:srgbClr val="F0F4F9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43342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ExperimentManuals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89320" y="433425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ExperimentID, SubjectID, ExperimentName, IsActive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WildcatHub can grow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54480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54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Experiment Manual DB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0848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SaveManual database integration so experiment manuals persist and drive student borrow slips.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463040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554480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54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37760" y="1810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08483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slip approval, decline, and payment notices via EmailService to student school emails.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70048"/>
            <a:ext cx="54864" cy="10972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61488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761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436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Barcode Integration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32918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borrow slip QR codes and scan equipment serial numbers at reception for faster checkout.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670048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670048"/>
            <a:ext cx="54864" cy="10972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761488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76148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37760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Portal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37760" y="329184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student-facing features to ASP.NET MVC or MAUI for cross-device access.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77056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877056"/>
            <a:ext cx="54864" cy="1097280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968496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9684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94360" y="4224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 Migration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44988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MS Access to MySQL or Azure SQL for multi-lab, multi-site deployment.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3877056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877056"/>
            <a:ext cx="54864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968496"/>
            <a:ext cx="868680" cy="201168"/>
          </a:xfrm>
          <a:prstGeom prst="roundRect">
            <a:avLst>
              <a:gd name="adj" fmla="val 13636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9684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37760" y="4224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37760" y="449884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low-stock periods and flag borrowing anomalies using equipment usage history.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CODE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in the Current Build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runtime problems identified in the source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402336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361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361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17320" y="1490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LoadManualSubjects — Missing LabID Filter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17320" y="16824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subjects globally instead of filtering by SessionManager.LabID. Will show subjects from other labs.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20240"/>
            <a:ext cx="54864" cy="402336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19933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9933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417320" y="1947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SaveManual — Not Yet Implemented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21396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btnManualSave_Click shows a placeholder MessageBox. Experiment manual data is never saved to the database.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54864" cy="402336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4505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4505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417320" y="2404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FilterBorrowed — Wrong Table Query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25968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FilterBorrowed queries BorrowTransactions instead of BorrowSlips/BorrowSlipItems. Will throw an OleDbException at runtime.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834640"/>
            <a:ext cx="54864" cy="402336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29077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9077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417320" y="2862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GetManualSelectedSubjectId — SubjectCode Not an Int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17320" y="30540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leading digits of SubjectCode as an integer. Will fail for codes like 'ECE 101' (space before digits).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91840"/>
            <a:ext cx="54864" cy="402336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3649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364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417320" y="33192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dgvHistory — 'ReturnStatus' Column Missing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17320" y="35112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dgvHistory_RowPrePaint references row.Cells['ReturnStatus'] but the column is named 'ItemReturnStatus'. Silent bug.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49040"/>
            <a:ext cx="54864" cy="402336"/>
          </a:xfrm>
          <a:prstGeom prst="rect">
            <a:avLst/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8221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2E6B4E"/>
          </a:solidFill>
          <a:ln w="12700">
            <a:solidFill>
              <a:srgbClr val="2E6B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8221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417320" y="3776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LoadManualEquipment — cmbManualEquipment Never Initialized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417320" y="39684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LoadManualEquipment is defined but cmbManualEquipment is null in the new panel flow — will throw NullReferenceException.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8229600" cy="402336"/>
          </a:xfrm>
          <a:prstGeom prst="rect">
            <a:avLst/>
          </a:prstGeom>
          <a:solidFill>
            <a:srgbClr val="FDF6F7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206240"/>
            <a:ext cx="54864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" y="42793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2793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417320" y="4233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Write in Paint Handler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417320" y="44256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GetAvailableSerialUnitCount() opens a DB connection inside Paint/Repaint loops — risk of connection leaks under rapid redraws.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4663440"/>
            <a:ext cx="82296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FE0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4663440"/>
            <a:ext cx="54864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" y="4736592"/>
            <a:ext cx="713232" cy="182880"/>
          </a:xfrm>
          <a:prstGeom prst="roundRect">
            <a:avLst>
              <a:gd name="adj" fmla="val 15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47365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417320" y="4690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Cart Subject Lookup Fragility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417320" y="488289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SubmitBorrowSlipFromCart uses borrowCart[0].EquipmentID to find SubjectID. If that equipment links to multiple subjects it may pick the wrong one.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49A1A"/>
          </a:solidFill>
          <a:ln w="12700">
            <a:solidFill>
              <a:srgbClr val="C49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WildcatHub: Lab Equipment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&amp; Management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B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lab operations platform — not just a borrowing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 for Admin and Student with neumorphic UI design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slip pipeline with group, subject, schedule, and serial unit tracking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algorithm: Total − Maintenance − Pending − Borrowed − UsedUp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Damage/Lost report workflow with cost assignment and payment slip generation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 dashboard, equipment archiving, and lab-specific isolation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manual builder linking subjects, equipment, and borrow guidance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parameterized OleDB queries with transaction safety (commit/rollback)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D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Access schema with 12+ relational tables supporting all core workflows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0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every borrow is tracked with precision — and every piece of equipment accounted for."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WildcatHub - Lab Equipment Management System</dc:title>
  <dc:subject>PptxGenJS Presentation</dc:subject>
  <dc:creator>PptxGenJS</dc:creator>
  <cp:lastModifiedBy>PptxGenJS</cp:lastModifiedBy>
  <cp:revision>1</cp:revision>
  <dcterms:created xsi:type="dcterms:W3CDTF">2026-05-11T21:40:17Z</dcterms:created>
  <dcterms:modified xsi:type="dcterms:W3CDTF">2026-05-11T21:40:17Z</dcterms:modified>
</cp:coreProperties>
</file>